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2E"/>
                </a:solidFill>
                <a:latin typeface="+mn-lt"/>
              </a:rPr>
              <a:t>ROC-AUC on test set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LightGBM</c:v>
                  </c:pt>
                  <c:pt idx="1">
                    <c:v>Logistic Reg.</c:v>
                  </c:pt>
                  <c:pt idx="2">
                    <c:v>MLP</c:v>
                  </c:pt>
                  <c:pt idx="3">
                    <c:v>Random Forest</c:v>
                  </c:pt>
                  <c:pt idx="4">
                    <c:v>Naive Bayes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0.7617</c:v>
                </c:pt>
                <c:pt idx="1">
                  <c:v>0.7546</c:v>
                </c:pt>
                <c:pt idx="2">
                  <c:v>0.7486</c:v>
                </c:pt>
                <c:pt idx="3">
                  <c:v>0.7453</c:v>
                </c:pt>
                <c:pt idx="4">
                  <c:v>0.645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2"/>
          <c:min val="0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2E"/>
                </a:solidFill>
                <a:latin typeface="+mn-lt"/>
              </a:rPr>
              <a:t>Recall on defaulters (Logistic Regression)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D9A21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Class weights</c:v>
                  </c:pt>
                  <c:pt idx="2">
                    <c:v>Down-sample</c:v>
                  </c:pt>
                  <c:pt idx="3">
                    <c:v>SMOTE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0.0157</c:v>
                </c:pt>
                <c:pt idx="1">
                  <c:v>0.6828</c:v>
                </c:pt>
                <c:pt idx="2">
                  <c:v>0.6856</c:v>
                </c:pt>
                <c:pt idx="3">
                  <c:v>0.6699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2E"/>
                </a:solidFill>
                <a:latin typeface="+mn-lt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 paper</c:v>
                </c:pt>
              </c:strCache>
            </c:strRef>
          </c:tx>
          <c:spPr>
            <a:solidFill>
              <a:srgbClr val="4A5A5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Naive Bayes</c:v>
                  </c:pt>
                  <c:pt idx="3">
                    <c:v>MLP</c:v>
                  </c:pt>
                  <c:pt idx="4">
                    <c:v>LightGBM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69.34</c:v>
                </c:pt>
                <c:pt idx="1">
                  <c:v>63.51</c:v>
                </c:pt>
                <c:pt idx="2">
                  <c:v>52.11</c:v>
                </c:pt>
                <c:pt idx="3">
                  <c:v>62.34</c:v>
                </c:pt>
                <c:pt idx="4">
                  <c:v>57.47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This project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Naive Bayes</c:v>
                  </c:pt>
                  <c:pt idx="3">
                    <c:v>MLP</c:v>
                  </c:pt>
                  <c:pt idx="4">
                    <c:v>LightGBM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69.29</c:v>
                </c:pt>
                <c:pt idx="1">
                  <c:v>69.66</c:v>
                </c:pt>
                <c:pt idx="2">
                  <c:v>33.88</c:v>
                </c:pt>
                <c:pt idx="3">
                  <c:v>69.64</c:v>
                </c:pt>
                <c:pt idx="4">
                  <c:v>69.67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1B1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reproduce the Loanliness workflow end to end on Home Credit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7BC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7BC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9A21B"/>
                </a:solidFill>
              </a:rPr>
              <a:t>LOANLINESS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Loan Repayment Ability with Machine Learning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FD3"/>
                </a:solidFill>
              </a:rPr>
              <a:t>Implementation of the reference paper on the Home Credit Default Risk dataset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PES1UG24CS149  ·  PES1UG24CS170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UE24CS352A – Machine Learning (Mini-Project)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7BC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who can repay is hard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307,511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A52"/>
                </a:solidFill>
              </a:rPr>
              <a:t>loan applicants in application_train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64408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1568" y="1371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8.07%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A52"/>
                </a:solidFill>
              </a:rPr>
              <a:t>defaulters (TARGET = 1): heavy class imbalance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71616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08776" y="1371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08776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A52"/>
                </a:solidFill>
              </a:rPr>
              <a:t>features after merging 6 history tables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3D2E"/>
                </a:solidFill>
              </a:rPr>
              <a:t>Task: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1B1B"/>
                </a:solidFill>
              </a:rPr>
              <a:t>binary classification of repayment ability from application and credit-history data.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3D2E"/>
                </a:solidFill>
              </a:rPr>
              <a:t>Challenge 1: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1B1B"/>
                </a:solidFill>
              </a:rPr>
              <a:t>many missing or invalid entries.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3D2E"/>
                </a:solidFill>
              </a:rPr>
              <a:t>Challenge 2: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1B1B"/>
                </a:solidFill>
              </a:rPr>
              <a:t>a 92 / 8 class split, so accuracy alone is misleading.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seven tables to one feature matrix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508760"/>
            <a:ext cx="457200" cy="457200"/>
          </a:xfrm>
          <a:prstGeom prst="ellipse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2E"/>
                </a:solidFill>
              </a:rPr>
              <a:t>Aggregate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52"/>
                </a:solidFill>
              </a:rPr>
              <a:t>Count, mean, min, max per applicant (SK_ID_CURR)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21408" y="137160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31136" y="150876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3113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2E"/>
                </a:solidFill>
              </a:rPr>
              <a:t>Merge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31136" y="24688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52"/>
                </a:solidFill>
              </a:rPr>
              <a:t>Join onto application data: 122 → 402 columns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85616" y="137160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95344" y="1508760"/>
            <a:ext cx="457200" cy="457200"/>
          </a:xfrm>
          <a:prstGeom prst="ellipse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9534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95344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2E"/>
                </a:solidFill>
              </a:rPr>
              <a:t>Drop sparse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95344" y="24688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52"/>
                </a:solidFill>
              </a:rPr>
              <a:t>Remove 256 features with more than 30% missing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49824" y="137160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59552" y="150876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5955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59552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2E"/>
                </a:solidFill>
              </a:rPr>
              <a:t>Prepare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59552" y="24688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52"/>
                </a:solidFill>
              </a:rPr>
              <a:t>Drop ID and TARGET: 144 features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14032" y="137160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1508760"/>
            <a:ext cx="457200" cy="457200"/>
          </a:xfrm>
          <a:prstGeom prst="ellipse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237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2E"/>
                </a:solidFill>
              </a:rPr>
              <a:t>Encode + scale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4688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52"/>
                </a:solidFill>
              </a:rPr>
              <a:t>One-hot + standardise: 239 features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52"/>
                </a:solidFill>
              </a:rPr>
              <a:t>Sources: application_train, bureau, bureau_balance, previous_application, POS_CASH_balance, installments_payments, credit_card_balance. Split: stratified 80/20 (246,008 train / 61,503 test). Preprocessing is fit on training data 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 and three ways to fix it</a:t>
            </a:r>
            <a:endParaRPr lang="en-US" sz="3000" dirty="0"/>
          </a:p>
        </p:txBody>
      </p:sp>
      <p:pic>
        <p:nvPicPr>
          <p:cNvPr id="3" name="Image 0" descr="/home/claude/img/cell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20624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37760" y="1234440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74920" y="1307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2E"/>
                </a:solidFill>
              </a:rPr>
              <a:t>Down-sampling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074920" y="1645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2"/>
                </a:solidFill>
              </a:rPr>
              <a:t>Majority cut to 19,860 to match the minority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937760" y="2240280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74920" y="2313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2E"/>
                </a:solidFill>
              </a:rPr>
              <a:t>SMOTE up-sampling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074920" y="26517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2"/>
                </a:solidFill>
              </a:rPr>
              <a:t>Synthetic minority: 226,148 per class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37760" y="3246120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74920" y="3319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2E"/>
                </a:solidFill>
              </a:rPr>
              <a:t>Class weights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3657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2"/>
                </a:solidFill>
              </a:rPr>
              <a:t>balanced inverse-frequency weighting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7D5B"/>
                </a:solidFill>
              </a:rPr>
              <a:t>Main models are trained on the down-sampled set (39,720 rows).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leads on ROC-AUC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640080"/>
                <a:gridCol w="731520"/>
                <a:gridCol w="6400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3D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</a:rPr>
                        <a:t>LightGBM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</a:rPr>
                        <a:t>0.697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</a:rPr>
                        <a:t>0.168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</a:rPr>
                        <a:t>0.696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</a:rPr>
                        <a:t>0.270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Logistic Reg.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0.693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0.164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0.686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0.265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MLP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0.696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0.164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0.673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0.264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0.697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0.164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0.674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0.264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Naive Bayes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0.339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0.096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0.853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</a:rPr>
                        <a:t>0.172</a:t>
                      </a:r>
                      <a:endParaRPr lang="en-US" sz="12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754880" y="3840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2"/>
                </a:solidFill>
              </a:rPr>
              <a:t>Naive Bayes flags most applicants as defaulters (recall 0.85, precision 0.10).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curves: modest but real separation</a:t>
            </a:r>
            <a:endParaRPr lang="en-US" sz="3000" dirty="0"/>
          </a:p>
        </p:txBody>
      </p:sp>
      <p:pic>
        <p:nvPicPr>
          <p:cNvPr id="3" name="Image 0" descr="/home/claude/img/cell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32735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754880" y="12344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3D2E"/>
                </a:solidFill>
              </a:rPr>
              <a:t>AUC range 0.645 to 0.762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Top four models sit within 0.016 AUC of each other.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1B1B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3D2E"/>
                </a:solidFill>
              </a:rPr>
              <a:t>Best-model confusion matrix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B1B"/>
                </a:solidFill>
              </a:rPr>
              <a:t>LightGBM catches ~70% of defaulters but also flags ~30% of good borrowers.</a:t>
            </a:r>
            <a:endParaRPr lang="en-US" sz="1400" dirty="0"/>
          </a:p>
        </p:txBody>
      </p:sp>
      <p:pic>
        <p:nvPicPr>
          <p:cNvPr id="5" name="Image 1" descr="/home/claude/img/cell5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154680"/>
            <a:ext cx="17373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rescues recall, not AUC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0" y="128016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23560" y="1325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5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91.95%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623560" y="20574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52"/>
                </a:solidFill>
              </a:rPr>
              <a:t>accuracy on original data, with only 1.6% recall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28803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ROC-AUC is nearly identical across strategies (0.751 to 0.756). Balancing changes the threshold behaviour, not the ranking quality. Class weights match down-sampling without discarding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Polynomial features and K-Means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</a:rPr>
              <a:t>Polynomial transform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54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52"/>
                </a:solidFill>
              </a:rPr>
              <a:t>ROC-AUC, down from 0.755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Degree-2 expansion of only 10 features (10 → 65) gave no gain. Expanding all 239 features is computationally impractical.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</a:rPr>
              <a:t>K-Means clustering</a:t>
            </a:r>
            <a:endParaRPr lang="en-US" sz="1800" dirty="0"/>
          </a:p>
        </p:txBody>
      </p:sp>
      <p:pic>
        <p:nvPicPr>
          <p:cNvPr id="10" name="Image 0" descr="/home/claude/img/cell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37360"/>
            <a:ext cx="2103120" cy="140817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040880" y="17373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52"/>
                </a:solidFill>
              </a:rPr>
              <a:t>Elbow curve for k = 2 to 6; k = 4 chosen per the paper.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3291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Cluster sizes: 5,075 / 3,626 / 12,251 / 9,048. One LightGBM model was trained per cluster on a 30,000-row PCA-reduced sample.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and t-SNE: classes overlap heavily</a:t>
            </a:r>
            <a:endParaRPr lang="en-US" sz="3000" dirty="0"/>
          </a:p>
        </p:txBody>
      </p:sp>
      <p:pic>
        <p:nvPicPr>
          <p:cNvPr id="3" name="Image 0" descr="/home/claude/img/cell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606040" cy="2103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</a:rPr>
              <a:t>PCA (2 components)</a:t>
            </a:r>
            <a:endParaRPr lang="en-US" sz="1300" dirty="0"/>
          </a:p>
        </p:txBody>
      </p:sp>
      <p:pic>
        <p:nvPicPr>
          <p:cNvPr id="5" name="Image 1" descr="/home/claude/img/cell8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188720"/>
            <a:ext cx="2606040" cy="21031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264408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</a:rPr>
              <a:t>t-SNE</a:t>
            </a:r>
            <a:endParaRPr lang="en-US" sz="1300" dirty="0"/>
          </a:p>
        </p:txBody>
      </p:sp>
      <p:pic>
        <p:nvPicPr>
          <p:cNvPr id="7" name="Image 2" descr="/home/claude/img/cell8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1188720"/>
            <a:ext cx="2606040" cy="21031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071616" y="3337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2E"/>
                </a:solidFill>
              </a:rPr>
              <a:t>t-SNE after PCA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The first two principal components explain only 23.8% of variance, and neither projection shows clean separation. This matches the modest AUC: repayment ability is not easy to separate from these features.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repayment: external scores and age</a:t>
            </a:r>
            <a:endParaRPr lang="en-US" sz="3000" dirty="0"/>
          </a:p>
        </p:txBody>
      </p:sp>
      <p:pic>
        <p:nvPicPr>
          <p:cNvPr id="3" name="Image 0" descr="/home/claude/img/cell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2788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60720" y="128016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3D2E"/>
                </a:solidFill>
              </a:rPr>
              <a:t>EXT_SOURCE_2 and _3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are the two strongest features (0.051, 0.041).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B1B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3D2E"/>
                </a:solidFill>
              </a:rPr>
              <a:t>Next: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days since birth, employment, ID publish and registration, plus credit and annuity amounts.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1B1B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3D2E"/>
                </a:solidFill>
              </a:rPr>
              <a:t>Bureau and POS history </a:t>
            </a:r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features also appear in the top 20.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A52"/>
                </a:solidFill>
              </a:rPr>
              <a:t>Random Forest importance, top 20 of 239 processed features.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results versus the reference paper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280160"/>
            <a:ext cx="2743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</a:rPr>
              <a:t>Logistic Regression matches the paper almost exactly (69.3%). Our tree and neural models score higher, likely due to differences in aggregation, preprocessing and hyperparameters. The paper ranks LightGBM lower; we rank it first on AUC and F1.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1C5440"/>
          </a:solidFill>
          <a:ln w="12700">
            <a:solidFill>
              <a:srgbClr val="1C54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</a:rPr>
              <a:t>Preprocessing matters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256 of 402 features were dropped for missing data; 239 remained after encoding.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46304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1C5440"/>
          </a:solidFill>
          <a:ln w="12700">
            <a:solidFill>
              <a:srgbClr val="1C54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</a:rPr>
              <a:t>Accuracy misleads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9659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92% accuracy on raw data hid 1.6% recall; balancing lifts recall to about 68%.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1C5440"/>
          </a:solidFill>
          <a:ln w="12700">
            <a:solidFill>
              <a:srgbClr val="1C54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</a:rPr>
              <a:t>LightGBM is best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20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AUC 0.762, F1 0.270, though gains over Logistic Regression are small.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1C5440"/>
          </a:solidFill>
          <a:ln w="12700">
            <a:solidFill>
              <a:srgbClr val="1C5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127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</a:rPr>
              <a:t>Limits of the data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520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PCA and t-SNE show overlap; the ceiling is around 0.76 AUC with these features.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FD3"/>
                </a:solidFill>
              </a:rPr>
              <a:t>Future work: tune LightGBM, evaluate the cluster-specific models on held-out data, expand polynomial features.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7BC6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anliness">
  <a:themeElements>
    <a:clrScheme name="Loanliness">
      <a:dk1>
        <a:srgbClr val="1B1B1B"/>
      </a:dk1>
      <a:lt1>
        <a:srgbClr val="FFFFFF"/>
      </a:lt1>
      <a:dk2>
        <a:srgbClr val="0F3D2E"/>
      </a:dk2>
      <a:lt2>
        <a:srgbClr val="EEF4F0"/>
      </a:lt2>
      <a:accent1>
        <a:srgbClr val="0F3D2E"/>
      </a:accent1>
      <a:accent2>
        <a:srgbClr val="D9A21B"/>
      </a:accent2>
      <a:accent3>
        <a:srgbClr val="2E7D5B"/>
      </a:accent3>
      <a:accent4>
        <a:srgbClr val="B5473A"/>
      </a:accent4>
      <a:accent5>
        <a:srgbClr val="6B8F7E"/>
      </a:accent5>
      <a:accent6>
        <a:srgbClr val="4A5A52"/>
      </a:accent6>
      <a:hlink>
        <a:srgbClr val="2E7D5B"/>
      </a:hlink>
      <a:folHlink>
        <a:srgbClr val="4A5A52"/>
      </a:folHlink>
    </a:clrScheme>
    <a:fontScheme name="Loanlines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Loanliness: Loan Repayment Ability Prediction</dc:title>
  <dc:subject>PptxGenJS Presentation</dc:subject>
  <dc:creator>PptxGenJS</dc:creator>
  <cp:lastModifiedBy>PptxGenJS</cp:lastModifiedBy>
  <cp:revision>1</cp:revision>
  <dcterms:created xsi:type="dcterms:W3CDTF">2026-10-08T05:07:59Z</dcterms:created>
  <dcterms:modified xsi:type="dcterms:W3CDTF">2026-10-08T05:07:59Z</dcterms:modified>
</cp:coreProperties>
</file>